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78240" y="0"/>
            <a:ext cx="3429000" cy="6858000"/>
          </a:xfrm>
          <a:prstGeom prst="round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64040" y="502920"/>
            <a:ext cx="2011680" cy="1005840"/>
          </a:xfrm>
          <a:prstGeom prst="roundRect">
            <a:avLst/>
          </a:prstGeom>
          <a:solidFill>
            <a:srgbClr val="65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98280" y="1828800"/>
            <a:ext cx="2651760" cy="1005840"/>
          </a:xfrm>
          <a:prstGeom prst="roundRect">
            <a:avLst/>
          </a:prstGeom>
          <a:solidFill>
            <a:srgbClr val="E3A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3154680"/>
            <a:ext cx="1828800" cy="1005840"/>
          </a:xfrm>
          <a:prstGeom prst="roundRect">
            <a:avLst/>
          </a:prstGeom>
          <a:solidFill>
            <a:srgbClr val="65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0" y="4480560"/>
            <a:ext cx="2743200" cy="1143000"/>
          </a:xfrm>
          <a:prstGeom prst="round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51560"/>
            <a:ext cx="7955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CUSTOMER</a:t>
            </a:r>
            <a:br/>
            <a:r>
              <a:t>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5292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3A857"/>
                </a:solidFill>
                <a:latin typeface="Aptos"/>
              </a:defRPr>
            </a:pPr>
            <a:r>
              <a:t>FOR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65760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Business Intelligence • Power BI Dashboard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9834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Presented by: Uplakshay Srivastava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3949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CE6F0"/>
                </a:solidFill>
                <a:latin typeface="Aptos"/>
              </a:defRPr>
            </a:pPr>
            <a:r>
              <a:t>BBA – Business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080760"/>
            <a:ext cx="7680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DCE6F0"/>
                </a:solidFill>
                <a:latin typeface="Aptos"/>
              </a:defRPr>
            </a:pPr>
            <a:r>
              <a:t>Illustrative banking customer dataset | Prepared for academic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24F"/>
                </a:solidFill>
                <a:latin typeface="Aptos"/>
              </a:defRPr>
            </a:pPr>
            <a:r>
              <a:t>01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58B"/>
                </a:solidFill>
                <a:latin typeface="Aptos"/>
              </a:defRPr>
            </a:pPr>
            <a:r>
              <a:t>Using customer data to build more relevant and effective marketing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25296"/>
            <a:ext cx="11109960" cy="32004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651052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5758B"/>
                </a:solidFill>
                <a:latin typeface="Aptos"/>
              </a:defRPr>
            </a:pPr>
            <a:r>
              <a:t>02  |  CUSTOMER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800">
                <a:solidFill>
                  <a:srgbClr val="2A3747"/>
                </a:solidFill>
                <a:latin typeface="Aptos"/>
              </a:defRPr>
            </a:pPr>
            <a:r>
              <a:t>•  Customer segmentation divides a broad customer base into smaller groups with similar characteristics or behaviours.</a:t>
            </a:r>
          </a:p>
          <a:p>
            <a:pPr>
              <a:spcAft>
                <a:spcPts val="1700"/>
              </a:spcAft>
              <a:defRPr sz="1800">
                <a:solidFill>
                  <a:srgbClr val="2A3747"/>
                </a:solidFill>
                <a:latin typeface="Aptos"/>
              </a:defRPr>
            </a:pPr>
            <a:r>
              <a:t>•  This project demonstrates a Power BI-style dashboard using banking customer attributes such as age, income, tenure, product holding, transactions and preferred channel.</a:t>
            </a:r>
          </a:p>
          <a:p>
            <a:pPr>
              <a:spcAft>
                <a:spcPts val="1700"/>
              </a:spcAft>
              <a:defRPr sz="1800">
                <a:solidFill>
                  <a:srgbClr val="2A3747"/>
                </a:solidFill>
                <a:latin typeface="Aptos"/>
              </a:defRPr>
            </a:pPr>
            <a:r>
              <a:t>•  The dashboard compares segment size, average monthly spend and channel preferences to help marketers understand different customer needs.</a:t>
            </a:r>
          </a:p>
          <a:p>
            <a:pPr>
              <a:spcAft>
                <a:spcPts val="1700"/>
              </a:spcAft>
              <a:defRPr sz="1800">
                <a:solidFill>
                  <a:srgbClr val="2A3747"/>
                </a:solidFill>
                <a:latin typeface="Aptos"/>
              </a:defRPr>
            </a:pPr>
            <a:r>
              <a:t>•  The objective is to support targeted communication, stronger engagement and more informed campaign planning.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577840"/>
            <a:ext cx="10607040" cy="502920"/>
          </a:xfrm>
          <a:prstGeom prst="roundRect">
            <a:avLst/>
          </a:prstGeom>
          <a:solidFill>
            <a:srgbClr val="E1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696712"/>
            <a:ext cx="1024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324F"/>
                </a:solidFill>
                <a:latin typeface="Aptos"/>
              </a:defRPr>
            </a:pPr>
            <a:r>
              <a:t>Note: figures are illustrative and generated for this presentation; replace with your actual Power BI export if available.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24F"/>
                </a:solidFill>
                <a:latin typeface="Aptos"/>
              </a:defRPr>
            </a:pPr>
            <a:r>
              <a:t>02 | Dashboard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58B"/>
                </a:solidFill>
                <a:latin typeface="Aptos"/>
              </a:defRPr>
            </a:pPr>
            <a:r>
              <a:t>A single view of customer segments, spending and channel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25296"/>
            <a:ext cx="11109960" cy="32004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651052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5758B"/>
                </a:solidFill>
                <a:latin typeface="Aptos"/>
              </a:defRPr>
            </a:pPr>
            <a:r>
              <a:t>03  |  CUSTOMER SEGMENTATION</a:t>
            </a:r>
          </a:p>
        </p:txBody>
      </p:sp>
      <p:pic>
        <p:nvPicPr>
          <p:cNvPr id="7" name="Picture 6" descr="customer_segment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272784"/>
            <a:ext cx="10607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58B"/>
                </a:solidFill>
                <a:latin typeface="Aptos"/>
              </a:defRPr>
            </a:pPr>
            <a:r>
              <a:t>Dashboard mock-up built from sample data; the accompanying CSV can be imported into Power BI.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24F"/>
                </a:solidFill>
                <a:latin typeface="Aptos"/>
              </a:defRPr>
            </a:pPr>
            <a:r>
              <a:t>03 | How Customers Are Segmented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58B"/>
                </a:solidFill>
                <a:latin typeface="Aptos"/>
              </a:defRPr>
            </a:pPr>
            <a:r>
              <a:t>Simple, interpretable rules for the demonstration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25296"/>
            <a:ext cx="11109960" cy="32004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651052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5758B"/>
                </a:solidFill>
                <a:latin typeface="Aptos"/>
              </a:defRPr>
            </a:pPr>
            <a:r>
              <a:t>04  |  CUSTOMER SEGMENTATION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1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D7EA6"/>
                </a:solidFill>
                <a:latin typeface="Aptos"/>
              </a:defRPr>
            </a:pPr>
            <a:r>
              <a:t>HIGH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3911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A3747"/>
                </a:solidFill>
                <a:latin typeface="Aptos"/>
              </a:defRPr>
            </a:pPr>
            <a:r>
              <a:t>Higher income and higher monthly spend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328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58B"/>
                </a:solidFill>
                <a:latin typeface="Aptos"/>
              </a:defRPr>
            </a:pPr>
            <a:r>
              <a:t>Marketing idea: Premium offers, loyalty benefits and relationship-building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50876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673351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D7EA6"/>
                </a:solidFill>
                <a:latin typeface="Aptos"/>
              </a:defRPr>
            </a:pPr>
            <a:r>
              <a:t>YOUNG &amp; 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03911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A3747"/>
                </a:solidFill>
                <a:latin typeface="Aptos"/>
              </a:defRPr>
            </a:pPr>
            <a:r>
              <a:t>Under 30 with frequent 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328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58B"/>
                </a:solidFill>
                <a:latin typeface="Aptos"/>
              </a:defRPr>
            </a:pPr>
            <a:r>
              <a:t>Marketing idea: Mobile-first campaigns, app features and relevant onboarding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50876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673351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D7EA6"/>
                </a:solidFill>
                <a:latin typeface="Aptos"/>
              </a:defRPr>
            </a:pPr>
            <a:r>
              <a:t>MULTI-PRODUCT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03911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A3747"/>
                </a:solidFill>
                <a:latin typeface="Aptos"/>
              </a:defRPr>
            </a:pPr>
            <a:r>
              <a:t>Customers holding four or more 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5328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58B"/>
                </a:solidFill>
                <a:latin typeface="Aptos"/>
              </a:defRPr>
            </a:pPr>
            <a:r>
              <a:t>Marketing idea: Cross-sell carefully; highlight useful product bundles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370332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3867911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D7EA6"/>
                </a:solidFill>
                <a:latin typeface="Aptos"/>
              </a:defRPr>
            </a:pPr>
            <a:r>
              <a:t>LOW 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2336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A3747"/>
                </a:solidFill>
                <a:latin typeface="Aptos"/>
              </a:defRPr>
            </a:pPr>
            <a:r>
              <a:t>Fewer than eight monthly transactions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72744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58B"/>
                </a:solidFill>
                <a:latin typeface="Aptos"/>
              </a:defRPr>
            </a:pPr>
            <a:r>
              <a:t>Marketing idea: Re-engagement messages and easy-to-use service reminders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703320"/>
            <a:ext cx="32004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867911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D7EA6"/>
                </a:solidFill>
                <a:latin typeface="Aptos"/>
              </a:defRPr>
            </a:pPr>
            <a:r>
              <a:t>MAINSTREAM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2336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A3747"/>
                </a:solidFill>
                <a:latin typeface="Aptos"/>
              </a:defRPr>
            </a:pPr>
            <a:r>
              <a:t>Customers not matching the rules above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72744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58B"/>
                </a:solidFill>
                <a:latin typeface="Aptos"/>
              </a:defRPr>
            </a:pPr>
            <a:r>
              <a:t>Marketing idea: Relevant general offers and ongoing engagement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24F"/>
                </a:solidFill>
                <a:latin typeface="Aptos"/>
              </a:defRPr>
            </a:pPr>
            <a:r>
              <a:t>04 | What the Dashboard Can Tell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58B"/>
                </a:solidFill>
                <a:latin typeface="Aptos"/>
              </a:defRPr>
            </a:pPr>
            <a:r>
              <a:t>Turn charts into questions and marketing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25296"/>
            <a:ext cx="11109960" cy="32004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651052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5758B"/>
                </a:solidFill>
                <a:latin typeface="Aptos"/>
              </a:defRPr>
            </a:pPr>
            <a:r>
              <a:t>05  |  CUSTOMER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700">
                <a:solidFill>
                  <a:srgbClr val="2A3747"/>
                </a:solidFill>
                <a:latin typeface="Aptos"/>
              </a:defRPr>
            </a:pPr>
            <a:r>
              <a:t>•  Segment size: identify which customer groups make up the largest part of the sample.</a:t>
            </a:r>
          </a:p>
          <a:p>
            <a:pPr>
              <a:spcAft>
                <a:spcPts val="1700"/>
              </a:spcAft>
              <a:defRPr sz="1700">
                <a:solidFill>
                  <a:srgbClr val="2A3747"/>
                </a:solidFill>
                <a:latin typeface="Aptos"/>
              </a:defRPr>
            </a:pPr>
            <a:r>
              <a:t>•  Spending patterns: compare average monthly spend across segments to understand relative value.</a:t>
            </a:r>
          </a:p>
          <a:p>
            <a:pPr>
              <a:spcAft>
                <a:spcPts val="1700"/>
              </a:spcAft>
              <a:defRPr sz="1700">
                <a:solidFill>
                  <a:srgbClr val="2A3747"/>
                </a:solidFill>
                <a:latin typeface="Aptos"/>
              </a:defRPr>
            </a:pPr>
            <a:r>
              <a:t>•  Channel preference: see whether customers more often use the mobile app, internet banking, branch or ATM.</a:t>
            </a:r>
          </a:p>
          <a:p>
            <a:pPr>
              <a:spcAft>
                <a:spcPts val="1700"/>
              </a:spcAft>
              <a:defRPr sz="1700">
                <a:solidFill>
                  <a:srgbClr val="2A3747"/>
                </a:solidFill>
                <a:latin typeface="Aptos"/>
              </a:defRPr>
            </a:pPr>
            <a:r>
              <a:t>•  Age and spend: explore whether spending patterns vary across age groups; avoid assuming age alone explains behaviour.</a:t>
            </a:r>
          </a:p>
          <a:p>
            <a:pPr>
              <a:spcAft>
                <a:spcPts val="1700"/>
              </a:spcAft>
              <a:defRPr sz="1700">
                <a:solidFill>
                  <a:srgbClr val="2A3747"/>
                </a:solidFill>
                <a:latin typeface="Aptos"/>
              </a:defRPr>
            </a:pPr>
            <a:r>
              <a:t>•  These are descriptive findings from illustrative data—not verified findings about a real bank.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24F"/>
                </a:solidFill>
                <a:latin typeface="Aptos"/>
              </a:defRPr>
            </a:pPr>
            <a:r>
              <a:t>05 | Methodology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58B"/>
                </a:solidFill>
                <a:latin typeface="Aptos"/>
              </a:defRPr>
            </a:pPr>
            <a:r>
              <a:t>A reliable segmentation dashboard starts with clear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25296"/>
            <a:ext cx="11109960" cy="32004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651052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5758B"/>
                </a:solidFill>
                <a:latin typeface="Aptos"/>
              </a:defRPr>
            </a:pPr>
            <a:r>
              <a:t>06  |  CUSTOMER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700">
                <a:solidFill>
                  <a:srgbClr val="2A3747"/>
                </a:solidFill>
                <a:latin typeface="Aptos"/>
              </a:defRPr>
            </a:pPr>
            <a:r>
              <a:t>•  Import the CSV into Power BI Desktop and check data types, missing values and duplicate customer IDs.</a:t>
            </a:r>
          </a:p>
          <a:p>
            <a:pPr>
              <a:spcAft>
                <a:spcPts val="1700"/>
              </a:spcAft>
              <a:defRPr sz="1700">
                <a:solidFill>
                  <a:srgbClr val="2A3747"/>
                </a:solidFill>
                <a:latin typeface="Aptos"/>
              </a:defRPr>
            </a:pPr>
            <a:r>
              <a:t>•  Use Power Query to clean labels and verify that numeric fields are stored as numbers.</a:t>
            </a:r>
          </a:p>
          <a:p>
            <a:pPr>
              <a:spcAft>
                <a:spcPts val="1700"/>
              </a:spcAft>
              <a:defRPr sz="1700">
                <a:solidFill>
                  <a:srgbClr val="2A3747"/>
                </a:solidFill>
                <a:latin typeface="Aptos"/>
              </a:defRPr>
            </a:pPr>
            <a:r>
              <a:t>•  Create measures for customer count, average monthly spend, average tenure and average products held.</a:t>
            </a:r>
          </a:p>
          <a:p>
            <a:pPr>
              <a:spcAft>
                <a:spcPts val="1700"/>
              </a:spcAft>
              <a:defRPr sz="1700">
                <a:solidFill>
                  <a:srgbClr val="2A3747"/>
                </a:solidFill>
                <a:latin typeface="Aptos"/>
              </a:defRPr>
            </a:pPr>
            <a:r>
              <a:t>•  Build visuals: customers by segment, preferred channel, average spend by segment and age versus spend.</a:t>
            </a:r>
          </a:p>
          <a:p>
            <a:pPr>
              <a:spcAft>
                <a:spcPts val="1700"/>
              </a:spcAft>
              <a:defRPr sz="1700">
                <a:solidFill>
                  <a:srgbClr val="2A3747"/>
                </a:solidFill>
                <a:latin typeface="Aptos"/>
              </a:defRPr>
            </a:pPr>
            <a:r>
              <a:t>•  Validate totals against the source file and clearly label the dataset as sample or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24F"/>
                </a:solidFill>
                <a:latin typeface="Aptos"/>
              </a:defRPr>
            </a:pPr>
            <a:r>
              <a:t>06 | Marketing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58B"/>
                </a:solidFill>
                <a:latin typeface="Aptos"/>
              </a:defRPr>
            </a:pPr>
            <a:r>
              <a:t>Use segmentation to make communication more relevant—not intrusive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25296"/>
            <a:ext cx="11109960" cy="32004"/>
          </a:xfrm>
          <a:prstGeom prst="rect">
            <a:avLst/>
          </a:prstGeom>
          <a:solidFill>
            <a:srgbClr val="3D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0" y="651052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5758B"/>
                </a:solidFill>
                <a:latin typeface="Aptos"/>
              </a:defRPr>
            </a:pPr>
            <a:r>
              <a:t>07  |  CUSTOMER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700">
                <a:solidFill>
                  <a:srgbClr val="2A3747"/>
                </a:solidFill>
                <a:latin typeface="Aptos"/>
              </a:defRPr>
            </a:pPr>
            <a:r>
              <a:t>•  Personalise campaign messages around customer needs and product usage, rather than sending the same offer to everyone.</a:t>
            </a:r>
          </a:p>
          <a:p>
            <a:pPr>
              <a:spcAft>
                <a:spcPts val="1700"/>
              </a:spcAft>
              <a:defRPr sz="1700">
                <a:solidFill>
                  <a:srgbClr val="2A3747"/>
                </a:solidFill>
                <a:latin typeface="Aptos"/>
              </a:defRPr>
            </a:pPr>
            <a:r>
              <a:t>•  Test one campaign per segment and compare response, conversion and retention using measurable KPIs.</a:t>
            </a:r>
          </a:p>
          <a:p>
            <a:pPr>
              <a:spcAft>
                <a:spcPts val="1700"/>
              </a:spcAft>
              <a:defRPr sz="1700">
                <a:solidFill>
                  <a:srgbClr val="2A3747"/>
                </a:solidFill>
                <a:latin typeface="Aptos"/>
              </a:defRPr>
            </a:pPr>
            <a:r>
              <a:t>•  Use channel preferences to choose convenient communication routes, while respecting customer consent and privacy.</a:t>
            </a:r>
          </a:p>
          <a:p>
            <a:pPr>
              <a:spcAft>
                <a:spcPts val="1700"/>
              </a:spcAft>
              <a:defRPr sz="1700">
                <a:solidFill>
                  <a:srgbClr val="2A3747"/>
                </a:solidFill>
                <a:latin typeface="Aptos"/>
              </a:defRPr>
            </a:pPr>
            <a:r>
              <a:t>•  Review segment definitions periodically; customer behaviour can change over time.</a:t>
            </a:r>
          </a:p>
          <a:p>
            <a:pPr>
              <a:spcAft>
                <a:spcPts val="1700"/>
              </a:spcAft>
              <a:defRPr sz="1700">
                <a:solidFill>
                  <a:srgbClr val="2A3747"/>
                </a:solidFill>
                <a:latin typeface="Aptos"/>
              </a:defRPr>
            </a:pPr>
            <a:r>
              <a:t>•  Before business decisions, replace sample data with approved, anonymised bank data and validate results with stakeholders.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FFFFFF"/>
                </a:solidFill>
                <a:latin typeface="Aptos"/>
              </a:defRPr>
            </a:pPr>
            <a:r>
              <a:t>Customer segmentation helps marketers understand differences between customer groups and plan more relevant campaigns.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DCE6F0"/>
                </a:solidFill>
                <a:latin typeface="Aptos"/>
              </a:defRPr>
            </a:pPr>
            <a:r>
              <a:t>A Power BI dashboard makes these patterns easier to explore through interactive filters, clear measures and visual comparisons.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3A857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614476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CE6F0"/>
                </a:solidFill>
                <a:latin typeface="Aptos"/>
              </a:defRPr>
            </a:pPr>
            <a:r>
              <a:t>Presented by: Uplakshay Srivastava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